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1828800"/>
            <a:ext cx="7315200" cy="7315200"/>
          </a:xfrm>
          <a:prstGeom prst="ellipse">
            <a:avLst/>
          </a:prstGeom>
          <a:solidFill>
            <a:srgbClr val="FF5E5B">
              <a:alpha val="12000"/>
            </a:srgbClr>
          </a:solidFill>
          <a:ln w="12700">
            <a:solidFill>
              <a:srgbClr val="FF5E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1828800"/>
            <a:ext cx="6400800" cy="6400800"/>
          </a:xfrm>
          <a:prstGeom prst="ellipse">
            <a:avLst/>
          </a:prstGeom>
          <a:solidFill>
            <a:srgbClr val="D4B675">
              <a:alpha val="8000"/>
            </a:srgbClr>
          </a:solidFill>
          <a:ln w="12700">
            <a:solidFill>
              <a:srgbClr val="D4B67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5720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F4F4F3"/>
          </a:solidFill>
          <a:ln w="12700">
            <a:solidFill>
              <a:srgbClr val="F4F4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57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4572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F4F4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F5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CELEBRATION PROXIMITY MARKETING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10972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4F4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neighbors</a:t>
            </a:r>
            <a:pPr indent="0" marL="0">
              <a:buNone/>
            </a:pPr>
            <a:r>
              <a:rPr lang="en-US" sz="6400" b="1" dirty="0">
                <a:solidFill>
                  <a:srgbClr val="F4F4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are celebrating.</a:t>
            </a:r>
            <a:endParaRPr lang="en-US" sz="6400" dirty="0"/>
          </a:p>
          <a:p>
            <a:pPr indent="0" marL="0">
              <a:buNone/>
            </a:pPr>
            <a:r>
              <a:rPr lang="en-US" sz="6400" b="1" dirty="0">
                <a:solidFill>
                  <a:srgbClr val="F4F4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 where they </a:t>
            </a:r>
            <a:pPr indent="0" marL="0">
              <a:buNone/>
            </a:pPr>
            <a:r>
              <a:rPr lang="en-US" sz="6400" b="1" i="1" dirty="0">
                <a:solidFill>
                  <a:srgbClr val="FF5E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spend.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548640" y="5120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C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 × Loren AI HCP — Strategic Architecture, AI Implementation &amp; Launch Plan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5532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Alan Majeski, Co-founder · DASH (dashday.co)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5806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Loren AI — Michael Makabi, COO BRiX Tech · May 2026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2424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6492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325880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8C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LOREN AI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5568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25196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 × Loren AI HCP   · 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F4F4F3"/>
          </a:solidFill>
          <a:ln w="12700">
            <a:solidFill>
              <a:srgbClr val="F4F4F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60120" y="3657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F4F4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5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F4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we're building, in one breath.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6858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F4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 is the anti-Groupon.</a:t>
            </a:r>
            <a:endParaRPr lang="en-US" sz="17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C8C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Groupon trained customers to be discount-hunters, DASH connects neighborhood celebrators (birthdays + anniversaries) with the local studios, salons, and spas within 5 miles of them. No revenue share. No contract. 90 days free. $11.99/month after.</a:t>
            </a:r>
            <a:endParaRPr lang="en-US" sz="17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C8C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document is the complete Loren AI HCP implementation plan: brand strategy, AI voice agent, NEPQ-rebuilt sales script, automation map, marketing site, and launch playbook — engineered to acquire DASH's first 200 paying merchants in 90 days.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863840" y="2377440"/>
            <a:ext cx="3749040" cy="1005840"/>
          </a:xfrm>
          <a:prstGeom prst="rect">
            <a:avLst/>
          </a:prstGeom>
          <a:solidFill>
            <a:srgbClr val="111114"/>
          </a:solidFill>
          <a:ln w="12700">
            <a:solidFill>
              <a:srgbClr val="2424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0" y="246888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5E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9555480" y="2560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 merchants in cold list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555480" y="2926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HIGH confidence enriched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863840" y="3566160"/>
            <a:ext cx="3749040" cy="1005840"/>
          </a:xfrm>
          <a:prstGeom prst="rect">
            <a:avLst/>
          </a:prstGeom>
          <a:solidFill>
            <a:srgbClr val="111114"/>
          </a:solidFill>
          <a:ln w="12700">
            <a:solidFill>
              <a:srgbClr val="2424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0" y="365760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5E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9555480" y="3749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merchants in 90 days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555480" y="41148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$2,400 MRR floor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863840" y="4754880"/>
            <a:ext cx="3749040" cy="1005840"/>
          </a:xfrm>
          <a:prstGeom prst="rect">
            <a:avLst/>
          </a:prstGeom>
          <a:solidFill>
            <a:srgbClr val="111114"/>
          </a:solidFill>
          <a:ln w="12700">
            <a:solidFill>
              <a:srgbClr val="2424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0" y="484632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5E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8.6×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9555480" y="4937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return on AI agent cost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555480" y="5303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~$25 per paying merchant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2424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6492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325880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8C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LOREN AI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5568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25196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 × Loren AI HCP   · 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F4F4F3"/>
          </a:solidFill>
          <a:ln w="12700">
            <a:solidFill>
              <a:srgbClr val="F4F4F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60120" y="3657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F4F4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5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F4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Groupon trained your customers to be </a:t>
            </a:r>
            <a:pPr indent="0" marL="0">
              <a:buNone/>
            </a:pPr>
            <a:r>
              <a:rPr lang="en-US" sz="4000" b="1" i="1" dirty="0">
                <a:solidFill>
                  <a:srgbClr val="FF5E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cheap.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3566160" cy="3108960"/>
          </a:xfrm>
          <a:prstGeom prst="rect">
            <a:avLst/>
          </a:prstGeom>
          <a:solidFill>
            <a:srgbClr val="111114"/>
          </a:solidFill>
          <a:ln w="12700">
            <a:solidFill>
              <a:srgbClr val="2424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1089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5E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822960" y="40233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4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Groupon Death Spiral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466344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8C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Discount-hunters arrive once, demand 70% off, leave a 3-star review, never come back. Groupon keeps 30–50% of what's left.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51960" y="2926080"/>
            <a:ext cx="3566160" cy="3108960"/>
          </a:xfrm>
          <a:prstGeom prst="rect">
            <a:avLst/>
          </a:prstGeom>
          <a:solidFill>
            <a:srgbClr val="111114"/>
          </a:solidFill>
          <a:ln w="12700">
            <a:solidFill>
              <a:srgbClr val="2424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31089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5E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4526280" y="40233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4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Yelp &amp; Meta Don't Filter Intent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26280" y="466344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8C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$4–$12 per click. The click is just a click. No guarantee of a paying body in your studio.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955280" y="2926080"/>
            <a:ext cx="3566160" cy="3108960"/>
          </a:xfrm>
          <a:prstGeom prst="rect">
            <a:avLst/>
          </a:prstGeom>
          <a:solidFill>
            <a:srgbClr val="111114"/>
          </a:solidFill>
          <a:ln w="12700">
            <a:solidFill>
              <a:srgbClr val="2424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0" y="31089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5E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8229600" y="40233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4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Best Customer Is Invisible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229600" y="466344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8C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neighbor celebrating a birthday tomorrow has no idea you exist — and you have no way to reach them.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2424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6492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325880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8C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LOREN AI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15568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25196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 × Loren AI HCP   · 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F4F4F3"/>
          </a:solidFill>
          <a:ln w="12700">
            <a:solidFill>
              <a:srgbClr val="F4F4F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60120" y="3657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F4F4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5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 MECHANISM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4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call it </a:t>
            </a:r>
            <a:pPr indent="0" marL="0">
              <a:buNone/>
            </a:pPr>
            <a:r>
              <a:rPr lang="en-US" sz="3400" b="1" i="1" dirty="0">
                <a:solidFill>
                  <a:srgbClr val="FF5E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Celebration Proximity Marketing.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C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signals, fused into one. The combination is the moat.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731520" cy="731520"/>
          </a:xfrm>
          <a:prstGeom prst="ellipse">
            <a:avLst/>
          </a:prstGeom>
          <a:solidFill>
            <a:srgbClr val="111114"/>
          </a:solidFill>
          <a:ln w="12700">
            <a:solidFill>
              <a:srgbClr val="FF5E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108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5E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554480" y="30632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F4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Proximity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554480" y="34747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5-mile geofence around every merchant. Every match is a neighbor — someone who can return because they live nearby.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206240"/>
            <a:ext cx="731520" cy="731520"/>
          </a:xfrm>
          <a:prstGeom prst="ellipse">
            <a:avLst/>
          </a:prstGeom>
          <a:solidFill>
            <a:srgbClr val="111114"/>
          </a:solidFill>
          <a:ln w="12700">
            <a:solidFill>
              <a:srgbClr val="FF5E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206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5E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F4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Life Event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554480" y="45720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Birthdays. Anniversaries. The moments people will spend on no matter what. Delivered at the moment they're already in spending mode.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303520"/>
            <a:ext cx="731520" cy="731520"/>
          </a:xfrm>
          <a:prstGeom prst="ellipse">
            <a:avLst/>
          </a:prstGeom>
          <a:solidFill>
            <a:srgbClr val="111114"/>
          </a:solidFill>
          <a:ln w="12700">
            <a:solidFill>
              <a:srgbClr val="FF5E5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5303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5E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554480" y="52578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F4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Active Intent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554480" y="566928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Celebrators are actively searching for where to celebrate. Your offer arrives at the exact moment of decision.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680960" y="3108960"/>
            <a:ext cx="3931920" cy="3108960"/>
          </a:xfrm>
          <a:prstGeom prst="rect">
            <a:avLst/>
          </a:prstGeom>
          <a:solidFill>
            <a:srgbClr val="111114"/>
          </a:solidFill>
          <a:ln w="12700">
            <a:solidFill>
              <a:srgbClr val="2424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0" y="3246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5 miles · this week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955280" y="3730752"/>
            <a:ext cx="137160" cy="137160"/>
          </a:xfrm>
          <a:prstGeom prst="ellipse">
            <a:avLst/>
          </a:prstGeom>
          <a:solidFill>
            <a:srgbClr val="FF5E5B"/>
          </a:solidFill>
          <a:ln w="12700">
            <a:solidFill>
              <a:srgbClr val="FF5E5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83880" y="3611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Sarah, 28 — Birthday Sat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698480" y="36118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 mi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955280" y="4187952"/>
            <a:ext cx="137160" cy="137160"/>
          </a:xfrm>
          <a:prstGeom prst="ellipse">
            <a:avLst/>
          </a:prstGeom>
          <a:solidFill>
            <a:srgbClr val="FF5E5B"/>
          </a:solidFill>
          <a:ln w="12700">
            <a:solidFill>
              <a:srgbClr val="FF5E5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83880" y="4069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&amp; Priya — 5yr Anniv.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698480" y="40690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mi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955280" y="4645152"/>
            <a:ext cx="137160" cy="137160"/>
          </a:xfrm>
          <a:prstGeom prst="ellipse">
            <a:avLst/>
          </a:prstGeom>
          <a:solidFill>
            <a:srgbClr val="FF5E5B"/>
          </a:solidFill>
          <a:ln w="12700">
            <a:solidFill>
              <a:srgbClr val="FF5E5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83880" y="4526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Jasmine, 35 — Birthday Fri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698480" y="45262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mi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955280" y="5102352"/>
            <a:ext cx="137160" cy="137160"/>
          </a:xfrm>
          <a:prstGeom prst="ellipse">
            <a:avLst/>
          </a:prstGeom>
          <a:solidFill>
            <a:srgbClr val="FF5E5B"/>
          </a:solidFill>
          <a:ln w="12700">
            <a:solidFill>
              <a:srgbClr val="FF5E5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83880" y="4983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Patel Family — Anniv. dinner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698480" y="49834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 mi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955280" y="5559552"/>
            <a:ext cx="137160" cy="137160"/>
          </a:xfrm>
          <a:prstGeom prst="ellipse">
            <a:avLst/>
          </a:prstGeom>
          <a:solidFill>
            <a:srgbClr val="FF5E5B"/>
          </a:solidFill>
          <a:ln w="12700">
            <a:solidFill>
              <a:srgbClr val="FF5E5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83880" y="5440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Tyler, 41 — Birthday tonight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698480" y="54406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 mi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24242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6492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325880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8C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LOREN AI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15568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25196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 × Loren AI HCP   · 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F4F4F3"/>
          </a:solidFill>
          <a:ln w="12700">
            <a:solidFill>
              <a:srgbClr val="F4F4F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60120" y="3657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F4F4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5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F4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 vs </a:t>
            </a:r>
            <a:pPr indent="0" marL="0">
              <a:buNone/>
            </a:pPr>
            <a:r>
              <a:rPr lang="en-US" sz="3600" b="1" i="1" dirty="0">
                <a:solidFill>
                  <a:srgbClr val="FF5E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Groupon</a:t>
            </a:r>
            <a:pPr indent="0" marL="0">
              <a:buNone/>
            </a:pPr>
            <a:r>
              <a:rPr lang="en-US" sz="3600" b="1" dirty="0">
                <a:solidFill>
                  <a:srgbClr val="F4F4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Not a feature war.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11064240" cy="457200"/>
          </a:xfrm>
          <a:prstGeom prst="rect">
            <a:avLst/>
          </a:prstGeom>
          <a:solidFill>
            <a:srgbClr val="111114"/>
          </a:solidFill>
          <a:ln w="12700">
            <a:solidFill>
              <a:srgbClr val="2424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606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06240" y="2606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0" y="2606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5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063240"/>
            <a:ext cx="11064240" cy="548640"/>
          </a:xfrm>
          <a:prstGeom prst="rect">
            <a:avLst/>
          </a:prstGeom>
          <a:solidFill>
            <a:srgbClr val="111114">
              <a:alpha val="40000"/>
            </a:srgbClr>
          </a:solidFill>
          <a:ln w="12700">
            <a:solidFill>
              <a:srgbClr val="2424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0632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mindset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06240" y="30632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Discount-hunter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046720" y="30632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Neighborhood celebrator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36118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behavior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06240" y="36118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One-and-done (under 10%)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046720" y="36118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Repeat-prone (lives nearby)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160520"/>
            <a:ext cx="11064240" cy="548640"/>
          </a:xfrm>
          <a:prstGeom prst="rect">
            <a:avLst/>
          </a:prstGeom>
          <a:solidFill>
            <a:srgbClr val="111114">
              <a:alpha val="40000"/>
            </a:srgbClr>
          </a:solidFill>
          <a:ln w="12700">
            <a:solidFill>
              <a:srgbClr val="2424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1605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share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206240" y="41605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30–50% off the top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046720" y="41605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Zero. Flat $11.99/mo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" y="47091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206240" y="47091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Multi-month commitment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046720" y="47091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anytime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5257800"/>
            <a:ext cx="11064240" cy="548640"/>
          </a:xfrm>
          <a:prstGeom prst="rect">
            <a:avLst/>
          </a:prstGeom>
          <a:solidFill>
            <a:srgbClr val="111114">
              <a:alpha val="40000"/>
            </a:srgbClr>
          </a:solidFill>
          <a:ln w="12700">
            <a:solidFill>
              <a:srgbClr val="2424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52578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Targeting signal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206240" y="52578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Anyone, anywhere, with a coupon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046720" y="52578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5-mile + life event + intent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31520" y="58064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control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206240" y="58064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Groupon sets the offer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046720" y="58064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posts the offer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24242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6492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325880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8C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LOREN AI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15568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25196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 × Loren AI HCP   · 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F4F4F3"/>
          </a:solidFill>
          <a:ln w="12700">
            <a:solidFill>
              <a:srgbClr val="F4F4F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60120" y="3657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F4F4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5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OFFER STACK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4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$1,584 in stand-alone value. </a:t>
            </a:r>
            <a:pPr indent="0" marL="0">
              <a:buNone/>
            </a:pPr>
            <a:r>
              <a:rPr lang="en-US" sz="3000" b="1" i="1" dirty="0">
                <a:solidFill>
                  <a:srgbClr val="FF5E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$11.99/mo to merchants.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5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6060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5-mile geofenced birthday + anniversary delivery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09360" y="2606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7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$497/mo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5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30175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merchant landing page on DASH network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09360" y="30175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7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$299 setup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5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34290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text report — X people unlocked your offer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0" y="34290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7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$97/mo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840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5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38404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Cross-channel paid amplification — we run ads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9360" y="3840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7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$397/mo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251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5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42519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Word-of-mouth flywheel — each celebrator invites 3 friends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09360" y="42519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7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$197/mo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5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46634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merchant dashboard + redemption analytics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09360" y="4663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7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$97/mo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5166360"/>
            <a:ext cx="7406640" cy="0"/>
          </a:xfrm>
          <a:prstGeom prst="line">
            <a:avLst/>
          </a:prstGeom>
          <a:noFill/>
          <a:ln w="12700">
            <a:solidFill>
              <a:srgbClr val="2424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53035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STAND-ALONE VALUE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37760" y="5212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4F4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$1,584+/mo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8595360" y="2606040"/>
            <a:ext cx="3017520" cy="3200400"/>
          </a:xfrm>
          <a:prstGeom prst="rect">
            <a:avLst/>
          </a:prstGeom>
          <a:solidFill>
            <a:srgbClr val="111114"/>
          </a:solidFill>
          <a:ln w="12700">
            <a:solidFill>
              <a:srgbClr val="FF5E5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95360" y="2788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5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PAY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595360" y="31546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4F4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</a:t>
            </a:r>
            <a:endParaRPr lang="en-US" sz="8000" dirty="0"/>
          </a:p>
        </p:txBody>
      </p:sp>
      <p:sp>
        <p:nvSpPr>
          <p:cNvPr id="31" name="Text 29"/>
          <p:cNvSpPr/>
          <p:nvPr/>
        </p:nvSpPr>
        <p:spPr>
          <a:xfrm>
            <a:off x="8595360" y="4434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5E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90 days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595360" y="48463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C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$11.99/mo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595360" y="51663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contract. Cancel anytime.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595360" y="54406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4B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repeat celebrator pays for the year.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24242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6492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325880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8C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LOREN AI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15568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25196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 × Loren AI HCP   · 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F4F4F3"/>
          </a:solidFill>
          <a:ln w="12700">
            <a:solidFill>
              <a:srgbClr val="F4F4F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60120" y="3657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F4F4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5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TRANSFORMATION ROADMAP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4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 AI agents. Three phases. </a:t>
            </a:r>
            <a:pPr indent="0" marL="0">
              <a:buNone/>
            </a:pPr>
            <a:r>
              <a:rPr lang="en-US" sz="3000" b="1" i="1" dirty="0">
                <a:solidFill>
                  <a:srgbClr val="FF5E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on Loren AI HCP.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3566160" cy="3657600"/>
          </a:xfrm>
          <a:prstGeom prst="rect">
            <a:avLst/>
          </a:prstGeom>
          <a:solidFill>
            <a:srgbClr val="111114"/>
          </a:solidFill>
          <a:ln w="12700">
            <a:solidFill>
              <a:srgbClr val="2424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606040"/>
            <a:ext cx="3566160" cy="73152"/>
          </a:xfrm>
          <a:prstGeom prst="rect">
            <a:avLst/>
          </a:prstGeom>
          <a:solidFill>
            <a:srgbClr val="FF5E5B"/>
          </a:solidFill>
          <a:ln w="12700">
            <a:solidFill>
              <a:srgbClr val="FF5E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788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5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— Day One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1089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4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Acquisition flywheel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37033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5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3703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Retell outbound voice agent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41605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5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4160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text-back (missed calls)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46177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5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4617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inbound receptionist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50749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5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50749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Lead-qualifying chatbot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55321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5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51560" y="55321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SMS + email burst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297680" y="2606040"/>
            <a:ext cx="3566160" cy="3657600"/>
          </a:xfrm>
          <a:prstGeom prst="rect">
            <a:avLst/>
          </a:prstGeom>
          <a:solidFill>
            <a:srgbClr val="111114"/>
          </a:solidFill>
          <a:ln w="12700">
            <a:solidFill>
              <a:srgbClr val="24242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97680" y="2606040"/>
            <a:ext cx="3566160" cy="73152"/>
          </a:xfrm>
          <a:prstGeom prst="rect">
            <a:avLst/>
          </a:prstGeom>
          <a:solidFill>
            <a:srgbClr val="D4B675"/>
          </a:solidFill>
          <a:ln w="12700">
            <a:solidFill>
              <a:srgbClr val="D4B67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2788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4B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— Week 2–4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0" y="31089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4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Activation + retention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572000" y="37033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B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00600" y="3703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offer copywriter (3 variants)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0" y="41605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B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00600" y="4160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Wizard VSL — headline/script gen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0" y="46177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B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00600" y="4617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reactivation campaign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0" y="50749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B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00600" y="50749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retention coach (monthly)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0" y="55321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B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800600" y="55321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celebrator notifier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046720" y="2606040"/>
            <a:ext cx="3566160" cy="3657600"/>
          </a:xfrm>
          <a:prstGeom prst="rect">
            <a:avLst/>
          </a:prstGeom>
          <a:solidFill>
            <a:srgbClr val="111114"/>
          </a:solidFill>
          <a:ln w="12700">
            <a:solidFill>
              <a:srgbClr val="24242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046720" y="2606040"/>
            <a:ext cx="3566160" cy="73152"/>
          </a:xfrm>
          <a:prstGeom prst="rect">
            <a:avLst/>
          </a:prstGeom>
          <a:solidFill>
            <a:srgbClr val="C8C8C5"/>
          </a:solidFill>
          <a:ln w="12700">
            <a:solidFill>
              <a:srgbClr val="C8C8C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21040" y="2788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C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— Day 60–90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321040" y="31089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4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 + intelligence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8321040" y="37033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549640" y="3703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merchant success agent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321040" y="41605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549640" y="4160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churn predictor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321040" y="46177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8549640" y="4617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Cross-merchant referral engine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321040" y="50749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8549640" y="50749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cohort analytics auto-pack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24242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" y="6492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325880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8C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LOREN AI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115568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25196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 × Loren AI HCP   · 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F4F4F3"/>
          </a:solidFill>
          <a:ln w="12700">
            <a:solidFill>
              <a:srgbClr val="F4F4F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60120" y="3657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F4F4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5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ARCHITECTURE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4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cold list to </a:t>
            </a:r>
            <a:pPr indent="0" marL="0">
              <a:buNone/>
            </a:pPr>
            <a:r>
              <a:rPr lang="en-US" sz="2800" b="1" i="1" dirty="0">
                <a:solidFill>
                  <a:srgbClr val="FF5E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paying merchant</a:t>
            </a:r>
            <a:pPr indent="0" marL="0">
              <a:buNone/>
            </a:pPr>
            <a:r>
              <a:rPr lang="en-US" sz="2800" b="1" dirty="0">
                <a:solidFill>
                  <a:srgbClr val="F4F4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every step automated.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1691640" cy="2011680"/>
          </a:xfrm>
          <a:prstGeom prst="rect">
            <a:avLst/>
          </a:prstGeom>
          <a:solidFill>
            <a:srgbClr val="111114"/>
          </a:solidFill>
          <a:ln w="12700">
            <a:solidFill>
              <a:srgbClr val="2424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0140" y="3154680"/>
            <a:ext cx="548640" cy="548640"/>
          </a:xfrm>
          <a:prstGeom prst="ellipse">
            <a:avLst/>
          </a:prstGeom>
          <a:solidFill>
            <a:srgbClr val="0A0A0B"/>
          </a:solidFill>
          <a:ln w="19050">
            <a:solidFill>
              <a:srgbClr val="FF5E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2014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5E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0080" y="38862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List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42976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 enriched merchants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49424" y="370332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30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350008" y="2926080"/>
            <a:ext cx="1691640" cy="2011680"/>
          </a:xfrm>
          <a:prstGeom prst="rect">
            <a:avLst/>
          </a:prstGeom>
          <a:solidFill>
            <a:srgbClr val="111114"/>
          </a:solidFill>
          <a:ln w="12700">
            <a:solidFill>
              <a:srgbClr val="24242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21508" y="3154680"/>
            <a:ext cx="548640" cy="548640"/>
          </a:xfrm>
          <a:prstGeom prst="ellipse">
            <a:avLst/>
          </a:prstGeom>
          <a:solidFill>
            <a:srgbClr val="0A0A0B"/>
          </a:solidFill>
          <a:ln w="19050">
            <a:solidFill>
              <a:srgbClr val="FF5E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1508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5E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441448" y="38862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Voice Call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441448" y="42976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NEPQ Stage 1–7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050792" y="370332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30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151376" y="2926080"/>
            <a:ext cx="1691640" cy="2011680"/>
          </a:xfrm>
          <a:prstGeom prst="rect">
            <a:avLst/>
          </a:prstGeom>
          <a:solidFill>
            <a:srgbClr val="111114"/>
          </a:solidFill>
          <a:ln w="12700">
            <a:solidFill>
              <a:srgbClr val="24242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22876" y="3154680"/>
            <a:ext cx="548640" cy="548640"/>
          </a:xfrm>
          <a:prstGeom prst="ellipse">
            <a:avLst/>
          </a:prstGeom>
          <a:solidFill>
            <a:srgbClr val="0A0A0B"/>
          </a:solidFill>
          <a:ln w="19050">
            <a:solidFill>
              <a:srgbClr val="FF5E5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22876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5E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242816" y="38862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Booked or Setup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242816" y="42976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2 minutes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852160" y="370332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30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5952744" y="2926080"/>
            <a:ext cx="1691640" cy="2011680"/>
          </a:xfrm>
          <a:prstGeom prst="rect">
            <a:avLst/>
          </a:prstGeom>
          <a:solidFill>
            <a:srgbClr val="111114"/>
          </a:solidFill>
          <a:ln w="12700">
            <a:solidFill>
              <a:srgbClr val="24242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24244" y="3154680"/>
            <a:ext cx="548640" cy="548640"/>
          </a:xfrm>
          <a:prstGeom prst="ellipse">
            <a:avLst/>
          </a:prstGeom>
          <a:solidFill>
            <a:srgbClr val="0A0A0B"/>
          </a:solidFill>
          <a:ln w="19050">
            <a:solidFill>
              <a:srgbClr val="FF5E5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24244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5E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044184" y="38862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Onboarded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044184" y="42976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offer live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653528" y="370332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30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7754112" y="2926080"/>
            <a:ext cx="1691640" cy="2011680"/>
          </a:xfrm>
          <a:prstGeom prst="rect">
            <a:avLst/>
          </a:prstGeom>
          <a:solidFill>
            <a:srgbClr val="111114"/>
          </a:solidFill>
          <a:ln w="12700">
            <a:solidFill>
              <a:srgbClr val="24242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25612" y="3154680"/>
            <a:ext cx="548640" cy="548640"/>
          </a:xfrm>
          <a:prstGeom prst="ellipse">
            <a:avLst/>
          </a:prstGeom>
          <a:solidFill>
            <a:srgbClr val="0A0A0B"/>
          </a:solidFill>
          <a:ln w="19050">
            <a:solidFill>
              <a:srgbClr val="FF5E5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25612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5E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7845552" y="38862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Activated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845552" y="42976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celebrator unlocked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454896" y="370332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30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9555480" y="2926080"/>
            <a:ext cx="1691640" cy="2011680"/>
          </a:xfrm>
          <a:prstGeom prst="rect">
            <a:avLst/>
          </a:prstGeom>
          <a:solidFill>
            <a:srgbClr val="111114"/>
          </a:solidFill>
          <a:ln w="12700">
            <a:solidFill>
              <a:srgbClr val="24242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126980" y="3154680"/>
            <a:ext cx="548640" cy="548640"/>
          </a:xfrm>
          <a:prstGeom prst="ellipse">
            <a:avLst/>
          </a:prstGeom>
          <a:solidFill>
            <a:srgbClr val="0A0A0B"/>
          </a:solidFill>
          <a:ln w="19050">
            <a:solidFill>
              <a:srgbClr val="FF5E5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12698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5E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9646920" y="38862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9646920" y="42976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90 conversion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005840" y="5486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B6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&gt;12%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1005840" y="5943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 → Live conv.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154680" y="5486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B6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&gt;50%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3154680" y="5943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→ Qualified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303520" y="5486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B6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&gt;30%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5303520" y="5943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→ Booked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452360" y="5486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B6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&gt;80%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7452360" y="5943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Booked → Activated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9601200" y="5486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B6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&gt;60%</a:t>
            </a:r>
            <a:endParaRPr lang="en-US" sz="2200" dirty="0"/>
          </a:p>
        </p:txBody>
      </p:sp>
      <p:sp>
        <p:nvSpPr>
          <p:cNvPr id="51" name="Text 49"/>
          <p:cNvSpPr/>
          <p:nvPr/>
        </p:nvSpPr>
        <p:spPr>
          <a:xfrm>
            <a:off x="9601200" y="5943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Activated → Paying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24242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8640" y="6492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325880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8C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LOREN AI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115568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25196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 × Loren AI HCP   · 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F4F4F3"/>
          </a:solidFill>
          <a:ln w="12700">
            <a:solidFill>
              <a:srgbClr val="F4F4F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60120" y="3657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F4F4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5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/ AFTER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4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Operating DASH today vs. on the Loren AI HCP.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5394960" cy="3703320"/>
          </a:xfrm>
          <a:prstGeom prst="rect">
            <a:avLst/>
          </a:prstGeom>
          <a:solidFill>
            <a:srgbClr val="111114"/>
          </a:solidFill>
          <a:ln w="12700">
            <a:solidFill>
              <a:srgbClr val="2424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743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32461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 dials cold by hand, ~30 dials/day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363016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Friendly script — no NEPQ structure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401421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follow-up after voicemail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4398264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43000" y="439826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done manually per merchant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478231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478231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churn prediction, no save calls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516636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43000" y="51663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offers written ad-hoc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555040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3000" y="555040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learning loop from call outcomes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09360" y="2560320"/>
            <a:ext cx="5394960" cy="3703320"/>
          </a:xfrm>
          <a:prstGeom prst="rect">
            <a:avLst/>
          </a:prstGeom>
          <a:solidFill>
            <a:srgbClr val="111114"/>
          </a:solidFill>
          <a:ln w="12700">
            <a:solidFill>
              <a:srgbClr val="FF5E5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0" y="2743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5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8368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5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903720" y="32461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Reese (AI) runs 200+ dials/day, 24×7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8368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5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03720" y="363016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NEPQ stage flow — prospect sells themselves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58368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5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903720" y="401421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VM + 3-text follow-up Day 0/3/7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0" y="4398264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5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903720" y="439826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2-min onboarding from a single SMS link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583680" y="478231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5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903720" y="478231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churn predictor + AI save calls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583680" y="516636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5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903720" y="51663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offer copywriter — 3 variants per merchant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583680" y="555040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5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903720" y="555040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feeds GHL → tunes next 100 dials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24242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6492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325880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8C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LOREN AI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15568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25196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 × Loren AI HCP   · 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F4F4F3"/>
          </a:solidFill>
          <a:ln w="12700">
            <a:solidFill>
              <a:srgbClr val="F4F4F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60120" y="3657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F4F4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5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4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 math that </a:t>
            </a:r>
            <a:pPr indent="0" marL="0">
              <a:buNone/>
            </a:pPr>
            <a:r>
              <a:rPr lang="en-US" sz="3000" b="1" i="1" dirty="0">
                <a:solidFill>
                  <a:srgbClr val="FF5E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compounds</a:t>
            </a:r>
            <a:pPr indent="0" marL="0">
              <a:buNone/>
            </a:pPr>
            <a:r>
              <a:rPr lang="en-US" sz="3000" b="1" dirty="0">
                <a:solidFill>
                  <a:srgbClr val="F4F4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from week one.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3566160" cy="1828800"/>
          </a:xfrm>
          <a:prstGeom prst="rect">
            <a:avLst/>
          </a:prstGeom>
          <a:solidFill>
            <a:srgbClr val="111114"/>
          </a:solidFill>
          <a:ln w="12700">
            <a:solidFill>
              <a:srgbClr val="2424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74320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5E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822960" y="3749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paying merchant acquired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4114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Loren AI HCP outbound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97680" y="2651760"/>
            <a:ext cx="3566160" cy="1828800"/>
          </a:xfrm>
          <a:prstGeom prst="rect">
            <a:avLst/>
          </a:prstGeom>
          <a:solidFill>
            <a:srgbClr val="111114"/>
          </a:solidFill>
          <a:ln w="12700">
            <a:solidFill>
              <a:srgbClr val="2424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0" y="274320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5E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$216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4572000" y="3749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per merchant @ 18mo retention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0" y="4114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$11.99/mo × 18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046720" y="2651760"/>
            <a:ext cx="3566160" cy="1828800"/>
          </a:xfrm>
          <a:prstGeom prst="rect">
            <a:avLst/>
          </a:prstGeom>
          <a:solidFill>
            <a:srgbClr val="111114"/>
          </a:solidFill>
          <a:ln w="12700">
            <a:solidFill>
              <a:srgbClr val="2424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0" y="274320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5E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8.6×</a:t>
            </a:r>
            <a:endParaRPr lang="en-US" sz="5600" dirty="0"/>
          </a:p>
        </p:txBody>
      </p:sp>
      <p:sp>
        <p:nvSpPr>
          <p:cNvPr id="17" name="Text 15"/>
          <p:cNvSpPr/>
          <p:nvPr/>
        </p:nvSpPr>
        <p:spPr>
          <a:xfrm>
            <a:off x="8321040" y="3749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on AI acquisition spend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21040" y="4114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of all infrastructure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4754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projection — NY metro only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5120640"/>
            <a:ext cx="11064240" cy="365760"/>
          </a:xfrm>
          <a:prstGeom prst="rect">
            <a:avLst/>
          </a:prstGeom>
          <a:solidFill>
            <a:srgbClr val="111114"/>
          </a:solidFill>
          <a:ln w="12700">
            <a:solidFill>
              <a:srgbClr val="2424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5120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880360" y="5120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dials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74920" y="5120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booked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269480" y="5120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merchants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464040" y="5120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5800" y="54864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880360" y="54864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74920" y="54864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269480" y="54864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464040" y="54864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5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$108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85800" y="5806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60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880360" y="5806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4,500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74920" y="5806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270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269480" y="5806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464040" y="5806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5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$780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85800" y="61264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90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880360" y="61264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9,000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074920" y="61264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540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269480" y="61264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464040" y="61264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5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$2,400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24242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6492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325880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8C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LOREN AI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15568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25196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 × Loren AI HCP   · 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F4F4F3"/>
          </a:solidFill>
          <a:ln w="12700">
            <a:solidFill>
              <a:srgbClr val="F4F4F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60120" y="3657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F4F4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5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LAUNCH ROADMAP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4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sign-off to 200 paying merchants.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5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4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429000"/>
            <a:ext cx="2212848" cy="2926080"/>
          </a:xfrm>
          <a:prstGeom prst="rect">
            <a:avLst/>
          </a:prstGeom>
          <a:solidFill>
            <a:srgbClr val="111114"/>
          </a:solidFill>
          <a:ln w="12700">
            <a:solidFill>
              <a:srgbClr val="2424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429000"/>
            <a:ext cx="73152" cy="2926080"/>
          </a:xfrm>
          <a:prstGeom prst="rect">
            <a:avLst/>
          </a:prstGeom>
          <a:solidFill>
            <a:srgbClr val="FF5E5B"/>
          </a:solidFill>
          <a:ln w="12700">
            <a:solidFill>
              <a:srgbClr val="FF5E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61188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5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0120" y="3611880"/>
            <a:ext cx="170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sign-off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411480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5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60120" y="4114800"/>
            <a:ext cx="170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Lovable site live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461772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5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0120" y="4617720"/>
            <a:ext cx="170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+ SSL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512064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5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0120" y="5120640"/>
            <a:ext cx="170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GHL sub-account provisioned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807208" y="2606040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5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807208" y="292608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4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Voice Agent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807208" y="3429000"/>
            <a:ext cx="2212848" cy="2926080"/>
          </a:xfrm>
          <a:prstGeom prst="rect">
            <a:avLst/>
          </a:prstGeom>
          <a:solidFill>
            <a:srgbClr val="111114"/>
          </a:solidFill>
          <a:ln w="12700">
            <a:solidFill>
              <a:srgbClr val="24242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07208" y="3429000"/>
            <a:ext cx="73152" cy="2926080"/>
          </a:xfrm>
          <a:prstGeom prst="rect">
            <a:avLst/>
          </a:prstGeom>
          <a:solidFill>
            <a:srgbClr val="FF5E5B"/>
          </a:solidFill>
          <a:ln w="12700">
            <a:solidFill>
              <a:srgbClr val="FF5E5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35808" y="361188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5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218688" y="3611880"/>
            <a:ext cx="170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Retell + ElevenLabs configured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035808" y="411480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5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218688" y="4114800"/>
            <a:ext cx="170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internal test calls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035808" y="461772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5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218688" y="4617720"/>
            <a:ext cx="170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GHL post-call webhooks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035808" y="512064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5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3218688" y="5120640"/>
            <a:ext cx="170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alerts wired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65776" y="2606040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5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3–4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65776" y="292608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4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Dials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065776" y="3429000"/>
            <a:ext cx="2212848" cy="2926080"/>
          </a:xfrm>
          <a:prstGeom prst="rect">
            <a:avLst/>
          </a:prstGeom>
          <a:solidFill>
            <a:srgbClr val="111114"/>
          </a:solidFill>
          <a:ln w="12700">
            <a:solidFill>
              <a:srgbClr val="24242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65776" y="3429000"/>
            <a:ext cx="73152" cy="2926080"/>
          </a:xfrm>
          <a:prstGeom prst="rect">
            <a:avLst/>
          </a:prstGeom>
          <a:solidFill>
            <a:srgbClr val="FF5E5B"/>
          </a:solidFill>
          <a:ln w="12700">
            <a:solidFill>
              <a:srgbClr val="FF5E5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94376" y="361188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5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477256" y="3611880"/>
            <a:ext cx="170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calibration dials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294376" y="411480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5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477256" y="4114800"/>
            <a:ext cx="170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tuning v2.1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94376" y="461772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5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5477256" y="4617720"/>
            <a:ext cx="170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10 paying merchants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294376" y="512064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5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5477256" y="5120640"/>
            <a:ext cx="170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report v1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324344" y="2606040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5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5–8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324344" y="292608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4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324344" y="3429000"/>
            <a:ext cx="2212848" cy="2926080"/>
          </a:xfrm>
          <a:prstGeom prst="rect">
            <a:avLst/>
          </a:prstGeom>
          <a:solidFill>
            <a:srgbClr val="111114"/>
          </a:solidFill>
          <a:ln w="12700">
            <a:solidFill>
              <a:srgbClr val="24242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324344" y="3429000"/>
            <a:ext cx="73152" cy="2926080"/>
          </a:xfrm>
          <a:prstGeom prst="rect">
            <a:avLst/>
          </a:prstGeom>
          <a:solidFill>
            <a:srgbClr val="FF5E5B"/>
          </a:solidFill>
          <a:ln w="12700">
            <a:solidFill>
              <a:srgbClr val="FF5E5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52944" y="361188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5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7735824" y="3611880"/>
            <a:ext cx="170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dials/day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552944" y="411480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5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7735824" y="4114800"/>
            <a:ext cx="170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AI features deploy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552944" y="461772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5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7735824" y="4617720"/>
            <a:ext cx="170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rate to &gt;80%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7552944" y="512064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5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7735824" y="5120640"/>
            <a:ext cx="170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paying merchants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9582912" y="2606040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5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9–12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9582912" y="292608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4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Compound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9582912" y="3429000"/>
            <a:ext cx="2212848" cy="2926080"/>
          </a:xfrm>
          <a:prstGeom prst="rect">
            <a:avLst/>
          </a:prstGeom>
          <a:solidFill>
            <a:srgbClr val="111114"/>
          </a:solidFill>
          <a:ln w="12700">
            <a:solidFill>
              <a:srgbClr val="24242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582912" y="3429000"/>
            <a:ext cx="73152" cy="2926080"/>
          </a:xfrm>
          <a:prstGeom prst="rect">
            <a:avLst/>
          </a:prstGeom>
          <a:solidFill>
            <a:srgbClr val="FF5E5B"/>
          </a:solidFill>
          <a:ln w="12700">
            <a:solidFill>
              <a:srgbClr val="FF5E5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811512" y="361188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5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800" dirty="0"/>
          </a:p>
        </p:txBody>
      </p:sp>
      <p:sp>
        <p:nvSpPr>
          <p:cNvPr id="60" name="Text 58"/>
          <p:cNvSpPr/>
          <p:nvPr/>
        </p:nvSpPr>
        <p:spPr>
          <a:xfrm>
            <a:off x="9994392" y="3611880"/>
            <a:ext cx="170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+ Miami list seeded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9811512" y="411480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5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800" dirty="0"/>
          </a:p>
        </p:txBody>
      </p:sp>
      <p:sp>
        <p:nvSpPr>
          <p:cNvPr id="62" name="Text 60"/>
          <p:cNvSpPr/>
          <p:nvPr/>
        </p:nvSpPr>
        <p:spPr>
          <a:xfrm>
            <a:off x="9994392" y="4114800"/>
            <a:ext cx="170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AI deployed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9811512" y="461772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5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9994392" y="4617720"/>
            <a:ext cx="170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engine live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9811512" y="512064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5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800" dirty="0"/>
          </a:p>
        </p:txBody>
      </p:sp>
      <p:sp>
        <p:nvSpPr>
          <p:cNvPr id="66" name="Text 64"/>
          <p:cNvSpPr/>
          <p:nvPr/>
        </p:nvSpPr>
        <p:spPr>
          <a:xfrm>
            <a:off x="9994392" y="5120640"/>
            <a:ext cx="170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paying merchants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24242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48640" y="6492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1325880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8C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LOREN AI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1115568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425196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 × Loren AI HCP   · 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F4F4F3"/>
          </a:solidFill>
          <a:ln w="12700">
            <a:solidFill>
              <a:srgbClr val="F4F4F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60120" y="3657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F4F4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5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SCALING ROADMAP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4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NY metro to a multi-city network.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005840" y="3291840"/>
            <a:ext cx="10515600" cy="0"/>
          </a:xfrm>
          <a:prstGeom prst="line">
            <a:avLst/>
          </a:prstGeom>
          <a:noFill/>
          <a:ln w="25400">
            <a:solidFill>
              <a:srgbClr val="2424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3127248"/>
            <a:ext cx="329184" cy="329184"/>
          </a:xfrm>
          <a:prstGeom prst="ellipse">
            <a:avLst/>
          </a:prstGeom>
          <a:solidFill>
            <a:srgbClr val="FF5E5B"/>
          </a:solidFill>
          <a:ln w="12700">
            <a:solidFill>
              <a:srgbClr val="FF5E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6517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4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-274320" y="36576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C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 metro launch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-274320" y="4251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B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merchants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-274320" y="4617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5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$2.4K MRR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46448" y="3127248"/>
            <a:ext cx="329184" cy="329184"/>
          </a:xfrm>
          <a:prstGeom prst="ellipse">
            <a:avLst/>
          </a:prstGeom>
          <a:solidFill>
            <a:srgbClr val="FF5E5B"/>
          </a:solidFill>
          <a:ln w="12700">
            <a:solidFill>
              <a:srgbClr val="FF5E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62400" y="26517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4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30880" y="36576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C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+ Miami mirror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30880" y="4251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B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merchants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30880" y="4617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5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$7K MRR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851648" y="3127248"/>
            <a:ext cx="329184" cy="329184"/>
          </a:xfrm>
          <a:prstGeom prst="ellipse">
            <a:avLst/>
          </a:prstGeom>
          <a:solidFill>
            <a:srgbClr val="FF5E5B"/>
          </a:solidFill>
          <a:ln w="12700">
            <a:solidFill>
              <a:srgbClr val="FF5E5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67600" y="26517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4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36080" y="36576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C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Tier-2 AI live, consumer push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36080" y="4251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B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 merchants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36080" y="4617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5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$18K MRR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1356848" y="3127248"/>
            <a:ext cx="329184" cy="329184"/>
          </a:xfrm>
          <a:prstGeom prst="ellipse">
            <a:avLst/>
          </a:prstGeom>
          <a:solidFill>
            <a:srgbClr val="FF5E5B"/>
          </a:solidFill>
          <a:ln w="12700">
            <a:solidFill>
              <a:srgbClr val="FF5E5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972800" y="26517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4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241280" y="36576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C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Franchise / white-label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241280" y="4251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B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 merchants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241280" y="4617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5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$36K MRR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5486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4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playbook works in NY</a:t>
            </a:r>
            <a:pPr indent="0" marL="0">
              <a:buNone/>
            </a:pPr>
            <a:r>
              <a:rPr lang="en-US" sz="1200" i="1" dirty="0">
                <a:solidFill>
                  <a:srgbClr val="C8C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and we expect first cohort signal at Day 30 — every subsequent city is a 3-week clone job. The AI agent infrastructure is identical. The cold list is the only variable.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24242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6492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325880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8C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LOREN AI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15568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25196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 × Loren AI HCP   · 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F4F4F3"/>
          </a:solidFill>
          <a:ln w="12700">
            <a:solidFill>
              <a:srgbClr val="F4F4F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60120" y="3657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F4F4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5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MITIGATIONS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4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could derail us. And how we're already handling it.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11064240" cy="640080"/>
          </a:xfrm>
          <a:prstGeom prst="rect">
            <a:avLst/>
          </a:prstGeom>
          <a:solidFill>
            <a:srgbClr val="111114"/>
          </a:solidFill>
          <a:ln w="12700">
            <a:solidFill>
              <a:srgbClr val="2424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606040"/>
            <a:ext cx="73152" cy="640080"/>
          </a:xfrm>
          <a:prstGeom prst="rect">
            <a:avLst/>
          </a:prstGeom>
          <a:solidFill>
            <a:srgbClr val="FF5E5B"/>
          </a:solidFill>
          <a:ln w="12700">
            <a:solidFill>
              <a:srgbClr val="FF5E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974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5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" y="289864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Groupon retaliates with hyperlocal birthday play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17920" y="26974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D4B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217920" y="28986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fast — own the category name 'Celebration Proximity Marketing' before they react.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319272"/>
            <a:ext cx="11064240" cy="640080"/>
          </a:xfrm>
          <a:prstGeom prst="rect">
            <a:avLst/>
          </a:prstGeom>
          <a:solidFill>
            <a:srgbClr val="111114"/>
          </a:solidFill>
          <a:ln w="12700">
            <a:solidFill>
              <a:srgbClr val="24242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319272"/>
            <a:ext cx="73152" cy="640080"/>
          </a:xfrm>
          <a:prstGeom prst="rect">
            <a:avLst/>
          </a:prstGeom>
          <a:solidFill>
            <a:srgbClr val="FF5E5B"/>
          </a:solidFill>
          <a:ln w="12700">
            <a:solidFill>
              <a:srgbClr val="FF5E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41071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5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" y="36118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Merchants don't post offers after onboarding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0" y="341071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D4B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217920" y="3611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Loren AI offer-generation autopilot — zero merchant effort. Always-live default offer.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032504"/>
            <a:ext cx="11064240" cy="640080"/>
          </a:xfrm>
          <a:prstGeom prst="rect">
            <a:avLst/>
          </a:prstGeom>
          <a:solidFill>
            <a:srgbClr val="111114"/>
          </a:solidFill>
          <a:ln w="12700">
            <a:solidFill>
              <a:srgbClr val="24242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4032504"/>
            <a:ext cx="73152" cy="640080"/>
          </a:xfrm>
          <a:prstGeom prst="rect">
            <a:avLst/>
          </a:prstGeom>
          <a:solidFill>
            <a:srgbClr val="FF5E5B"/>
          </a:solidFill>
          <a:ln w="12700">
            <a:solidFill>
              <a:srgbClr val="FF5E5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12394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5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22960" y="432511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side never reaches density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17920" y="41239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D4B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217920" y="432511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from merchant lists. Every merchant brings 200+ existing customers into network.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745736"/>
            <a:ext cx="11064240" cy="640080"/>
          </a:xfrm>
          <a:prstGeom prst="rect">
            <a:avLst/>
          </a:prstGeom>
          <a:solidFill>
            <a:srgbClr val="111114"/>
          </a:solidFill>
          <a:ln w="12700">
            <a:solidFill>
              <a:srgbClr val="24242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745736"/>
            <a:ext cx="73152" cy="640080"/>
          </a:xfrm>
          <a:prstGeom prst="rect">
            <a:avLst/>
          </a:prstGeom>
          <a:solidFill>
            <a:srgbClr val="FF5E5B"/>
          </a:solidFill>
          <a:ln w="12700">
            <a:solidFill>
              <a:srgbClr val="FF5E5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483717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5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22960" y="503834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at Day 90 (free-trial conversion)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17920" y="483717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D4B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217920" y="503834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75 'value receipt' email + AI save call. Show literal dollars earned during trial.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5458968"/>
            <a:ext cx="11064240" cy="640080"/>
          </a:xfrm>
          <a:prstGeom prst="rect">
            <a:avLst/>
          </a:prstGeom>
          <a:solidFill>
            <a:srgbClr val="111114"/>
          </a:solidFill>
          <a:ln w="12700">
            <a:solidFill>
              <a:srgbClr val="24242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5458968"/>
            <a:ext cx="73152" cy="640080"/>
          </a:xfrm>
          <a:prstGeom prst="rect">
            <a:avLst/>
          </a:prstGeom>
          <a:solidFill>
            <a:srgbClr val="FF5E5B"/>
          </a:solidFill>
          <a:ln w="12700">
            <a:solidFill>
              <a:srgbClr val="FF5E5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" y="555040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5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22960" y="575157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TCPA/DNC compliance on cold dialing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217920" y="555040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D4B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217920" y="575157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DNC scrub weekly, transactional-only SMS, full audit trail in GHL.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24242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6492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325880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8C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LOREN AI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15568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25196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 × Loren AI HCP   · 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1828800"/>
            <a:ext cx="8229600" cy="8229600"/>
          </a:xfrm>
          <a:prstGeom prst="ellipse">
            <a:avLst/>
          </a:prstGeom>
          <a:solidFill>
            <a:srgbClr val="FF5E5B">
              <a:alpha val="14000"/>
            </a:srgbClr>
          </a:solidFill>
          <a:ln w="12700">
            <a:solidFill>
              <a:srgbClr val="FF5E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2743200"/>
            <a:ext cx="7315200" cy="7315200"/>
          </a:xfrm>
          <a:prstGeom prst="ellipse">
            <a:avLst/>
          </a:prstGeom>
          <a:solidFill>
            <a:srgbClr val="D4B675">
              <a:alpha val="8000"/>
            </a:srgbClr>
          </a:solidFill>
          <a:ln w="12700">
            <a:solidFill>
              <a:srgbClr val="D4B67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36576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F4F4F3"/>
          </a:solidFill>
          <a:ln w="12700">
            <a:solidFill>
              <a:srgbClr val="F4F4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65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60120" y="3657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F4F4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F5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11430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4F4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Greenlight the build. </a:t>
            </a:r>
            <a:pPr indent="0" marL="0">
              <a:buNone/>
            </a:pPr>
            <a:r>
              <a:rPr lang="en-US" sz="5000" b="1" i="1" dirty="0">
                <a:solidFill>
                  <a:srgbClr val="FF5E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We're live in 14 days.</a:t>
            </a:r>
            <a:endParaRPr lang="en-US" sz="5000" dirty="0"/>
          </a:p>
        </p:txBody>
      </p:sp>
      <p:sp>
        <p:nvSpPr>
          <p:cNvPr id="9" name="Shape 7"/>
          <p:cNvSpPr/>
          <p:nvPr/>
        </p:nvSpPr>
        <p:spPr>
          <a:xfrm>
            <a:off x="548640" y="3657600"/>
            <a:ext cx="640080" cy="640080"/>
          </a:xfrm>
          <a:prstGeom prst="ellipse">
            <a:avLst/>
          </a:prstGeom>
          <a:solidFill>
            <a:srgbClr val="111114"/>
          </a:solidFill>
          <a:ln w="19050">
            <a:solidFill>
              <a:srgbClr val="FF5E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657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5E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63040" y="36118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F4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 off on the strategy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463040" y="4023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voice, NEPQ script v2, AI agent rollout, $11.99 offer structure.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526280"/>
            <a:ext cx="640080" cy="640080"/>
          </a:xfrm>
          <a:prstGeom prst="ellipse">
            <a:avLst/>
          </a:prstGeom>
          <a:solidFill>
            <a:srgbClr val="111114"/>
          </a:solidFill>
          <a:ln w="19050">
            <a:solidFill>
              <a:srgbClr val="FF5E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526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5E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463040" y="44805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F4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Approve the budget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463040" y="4892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infrastructure (Retell, ElevenLabs, Twilio, GHL) — under $1.5K setup, $400/mo ops.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5394960"/>
            <a:ext cx="640080" cy="640080"/>
          </a:xfrm>
          <a:prstGeom prst="ellipse">
            <a:avLst/>
          </a:prstGeom>
          <a:solidFill>
            <a:srgbClr val="111114"/>
          </a:solidFill>
          <a:ln w="19050">
            <a:solidFill>
              <a:srgbClr val="FF5E5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5394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5E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463040" y="53492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F4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Lock the kickoff date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1463040" y="5760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ready to start the build the moment you say go. First production dials in 14 days.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9525">
            <a:solidFill>
              <a:srgbClr val="2424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6492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325880" y="6492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8C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LOREN AI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15568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25196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 × Loren AI HCP   · 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0"/>
            <a:ext cx="1216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spc="300" kern="0" dirty="0">
                <a:solidFill>
                  <a:srgbClr val="7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3246120"/>
            <a:ext cx="12161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spc="800" kern="0" dirty="0">
                <a:solidFill>
                  <a:srgbClr val="F4F4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LOREN AI</a:t>
            </a:r>
            <a:endParaRPr lang="en-US" sz="8800" dirty="0"/>
          </a:p>
        </p:txBody>
      </p:sp>
      <p:sp>
        <p:nvSpPr>
          <p:cNvPr id="4" name="Shape 2"/>
          <p:cNvSpPr/>
          <p:nvPr/>
        </p:nvSpPr>
        <p:spPr>
          <a:xfrm>
            <a:off x="5166360" y="4434840"/>
            <a:ext cx="1828800" cy="0"/>
          </a:xfrm>
          <a:prstGeom prst="line">
            <a:avLst/>
          </a:prstGeom>
          <a:noFill/>
          <a:ln w="25400">
            <a:solidFill>
              <a:srgbClr val="FF5E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61772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5E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AI HCP for category-creating brands.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0" y="521208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 Makabi  ·  mtip@hey.com  ·  ai-loren.com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Loren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DASH × Loren AI HCP</dc:title>
  <dc:subject>PptxGenJS Presentation</dc:subject>
  <dc:creator>Loren AI (Michael Makabi)</dc:creator>
  <cp:lastModifiedBy>Loren AI (Michael Makabi)</cp:lastModifiedBy>
  <cp:revision>1</cp:revision>
  <dcterms:created xsi:type="dcterms:W3CDTF">2026-05-20T19:48:53Z</dcterms:created>
  <dcterms:modified xsi:type="dcterms:W3CDTF">2026-05-20T19:48:53Z</dcterms:modified>
</cp:coreProperties>
</file>